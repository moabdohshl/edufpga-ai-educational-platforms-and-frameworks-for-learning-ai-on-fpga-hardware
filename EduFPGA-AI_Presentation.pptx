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1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1022F3-DD76-30F7-D07A-6F3994AEE0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0999" t="5824" r="8152" b="-1"/>
          <a:stretch/>
        </p:blipFill>
        <p:spPr>
          <a:xfrm>
            <a:off x="1" y="-1"/>
            <a:ext cx="9144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BD61B4A-47A0-CA7B-42CC-A02F6102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49" y="3764503"/>
            <a:ext cx="7344354" cy="205703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Educational Platforms for Learning AI on FPGA Hardware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635" y="5375466"/>
            <a:ext cx="7344354" cy="1345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Mohamed Abdo</a:t>
            </a:r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Hamm-Lippstadt University of Applied Sciences</a:t>
            </a:r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Prof</a:t>
            </a:r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A795-07DB-C28E-0F3D-9B2B29C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headlines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38FE7-934F-3417-E048-177721C02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6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1C8A3-6284-7FC6-53C6-AE28155AE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THE FPGA-AI OPPORTUNITY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AI's Computational Demand:</a:t>
            </a:r>
          </a:p>
          <a:p>
            <a:pPr marL="0" indent="0">
              <a:buNone/>
            </a:pPr>
            <a:r>
              <a:rPr lang="en-US" dirty="0"/>
              <a:t>• Exponential growth requiring specialized hardware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FPGA Advantages:</a:t>
            </a:r>
          </a:p>
          <a:p>
            <a:pPr marL="0" indent="0">
              <a:buNone/>
            </a:pPr>
            <a:r>
              <a:rPr lang="en-US" dirty="0"/>
              <a:t>• Custom parallel architectures</a:t>
            </a:r>
          </a:p>
          <a:p>
            <a:pPr marL="0" indent="0">
              <a:buNone/>
            </a:pPr>
            <a:r>
              <a:rPr lang="en-US" dirty="0"/>
              <a:t>• Ultra-low latency inference</a:t>
            </a:r>
          </a:p>
          <a:p>
            <a:pPr marL="0" indent="0">
              <a:buNone/>
            </a:pPr>
            <a:r>
              <a:rPr lang="en-US" dirty="0"/>
              <a:t>• Energy efficiency for edge computing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Educational Challenge:</a:t>
            </a:r>
          </a:p>
          <a:p>
            <a:pPr marL="0" indent="0">
              <a:buNone/>
            </a:pPr>
            <a:r>
              <a:rPr lang="en-US" dirty="0"/>
              <a:t>• Traditional FPGA design requires HDL expertise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EduFPGA</a:t>
            </a:r>
            <a:r>
              <a:rPr lang="en-US" dirty="0"/>
              <a:t>-AI platforms democratize hardware acceleration</a:t>
            </a:r>
          </a:p>
        </p:txBody>
      </p:sp>
    </p:spTree>
    <p:extLst>
      <p:ext uri="{BB962C8B-B14F-4D97-AF65-F5344CB8AC3E}">
        <p14:creationId xmlns:p14="http://schemas.microsoft.com/office/powerpoint/2010/main" val="29508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D525E-E43C-DE57-9408-F5A12C04D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TRADITIONAL FPGA COMPLEXITY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Traditional FPGA Workflow:</a:t>
            </a:r>
          </a:p>
          <a:p>
            <a:pPr marL="0" indent="0">
              <a:buNone/>
            </a:pPr>
            <a:r>
              <a:rPr lang="en-US" dirty="0"/>
              <a:t>AI Model → HDL Coding → Synthesis → Place &amp; Route → Bitstream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Barriers for Students:</a:t>
            </a:r>
          </a:p>
          <a:p>
            <a:pPr marL="0" indent="0">
              <a:buNone/>
            </a:pPr>
            <a:r>
              <a:rPr lang="en-US" dirty="0"/>
              <a:t>• Hardware Description Languages (VHDL/Verilog)</a:t>
            </a:r>
          </a:p>
          <a:p>
            <a:pPr marL="0" indent="0">
              <a:buNone/>
            </a:pPr>
            <a:r>
              <a:rPr lang="en-US" dirty="0"/>
              <a:t>• Complex vendor toolchains (</a:t>
            </a:r>
            <a:r>
              <a:rPr lang="en-US" dirty="0" err="1"/>
              <a:t>Vivado</a:t>
            </a:r>
            <a:r>
              <a:rPr lang="en-US" dirty="0"/>
              <a:t>/Quartus)</a:t>
            </a:r>
          </a:p>
          <a:p>
            <a:pPr marL="0" indent="0">
              <a:buNone/>
            </a:pPr>
            <a:r>
              <a:rPr lang="en-US" dirty="0"/>
              <a:t>• Steep learning curve for AI-focused students</a:t>
            </a:r>
          </a:p>
          <a:p>
            <a:pPr marL="0" indent="0">
              <a:buNone/>
            </a:pPr>
            <a:r>
              <a:rPr lang="en-US" dirty="0"/>
              <a:t>• Time-consuming design process</a:t>
            </a:r>
          </a:p>
        </p:txBody>
      </p:sp>
    </p:spTree>
    <p:extLst>
      <p:ext uri="{BB962C8B-B14F-4D97-AF65-F5344CB8AC3E}">
        <p14:creationId xmlns:p14="http://schemas.microsoft.com/office/powerpoint/2010/main" val="300814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23D6-02CE-4E8A-87A2-C0CBBBE26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HIGH-LEVEL SYNTHESIS (HLS)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HLS?</a:t>
            </a:r>
          </a:p>
          <a:p>
            <a:pPr marL="0" indent="0">
              <a:buNone/>
            </a:pPr>
            <a:r>
              <a:rPr lang="en-US" dirty="0"/>
              <a:t>• Converts C++/Python to hardware descriptions</a:t>
            </a:r>
          </a:p>
          <a:p>
            <a:pPr marL="0" indent="0">
              <a:buNone/>
            </a:pPr>
            <a:r>
              <a:rPr lang="en-US" dirty="0"/>
              <a:t>• Abstracts away HDL complexity</a:t>
            </a:r>
          </a:p>
          <a:p>
            <a:pPr marL="0" indent="0">
              <a:buNone/>
            </a:pPr>
            <a:r>
              <a:rPr lang="en-US" dirty="0"/>
              <a:t>• Enables algorithm-focused design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Educational Impact:</a:t>
            </a:r>
          </a:p>
          <a:p>
            <a:pPr marL="0" indent="0">
              <a:buNone/>
            </a:pPr>
            <a:r>
              <a:rPr lang="en-US" dirty="0"/>
              <a:t>• Students describe behavior, not hardware</a:t>
            </a:r>
          </a:p>
          <a:p>
            <a:pPr marL="0" indent="0">
              <a:buNone/>
            </a:pPr>
            <a:r>
              <a:rPr lang="en-US" dirty="0"/>
              <a:t>• Focus on AI algorithm optimization</a:t>
            </a:r>
          </a:p>
          <a:p>
            <a:pPr marL="0" indent="0">
              <a:buNone/>
            </a:pPr>
            <a:r>
              <a:rPr lang="en-US" dirty="0"/>
              <a:t>• Faster prototyping and experimentation</a:t>
            </a:r>
          </a:p>
          <a:p>
            <a:pPr marL="0" indent="0">
              <a:buNone/>
            </a:pPr>
            <a:r>
              <a:rPr lang="en-US" dirty="0"/>
              <a:t>• Bridges software-hardware gap</a:t>
            </a:r>
          </a:p>
        </p:txBody>
      </p:sp>
    </p:spTree>
    <p:extLst>
      <p:ext uri="{BB962C8B-B14F-4D97-AF65-F5344CB8AC3E}">
        <p14:creationId xmlns:p14="http://schemas.microsoft.com/office/powerpoint/2010/main" val="379724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AF5B5-1F7A-B11C-263C-15A1F0B3C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QUANTIZATION: KEY TO EFFICIENCY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Mathematical Foundation:</a:t>
            </a:r>
          </a:p>
          <a:p>
            <a:pPr marL="0" indent="0">
              <a:buNone/>
            </a:pPr>
            <a:r>
              <a:rPr lang="en-US" dirty="0"/>
              <a:t>Q(x) = </a:t>
            </a:r>
            <a:r>
              <a:rPr lang="el-GR" dirty="0"/>
              <a:t>Δ · </a:t>
            </a:r>
            <a:r>
              <a:rPr lang="en-US" dirty="0"/>
              <a:t>round(x/</a:t>
            </a:r>
            <a:r>
              <a:rPr lang="el-GR" dirty="0"/>
              <a:t>Δ)</a:t>
            </a:r>
          </a:p>
          <a:p>
            <a:pPr marL="0" indent="0">
              <a:buNone/>
            </a:pPr>
            <a:r>
              <a:rPr lang="el-GR" dirty="0"/>
              <a:t>Δ = 2 · </a:t>
            </a:r>
            <a:r>
              <a:rPr lang="en-US" dirty="0"/>
              <a:t>max(|x|) / (2ᵇ - 1)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Three Approaches:</a:t>
            </a:r>
          </a:p>
          <a:p>
            <a:pPr marL="0" indent="0">
              <a:buNone/>
            </a:pPr>
            <a:r>
              <a:rPr lang="en-US" dirty="0"/>
              <a:t>1. Post-Training Quantization (PTQ)</a:t>
            </a:r>
          </a:p>
          <a:p>
            <a:pPr marL="0" indent="0">
              <a:buNone/>
            </a:pPr>
            <a:r>
              <a:rPr lang="en-US" dirty="0"/>
              <a:t>   - Simple but less accurate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Quantization-Aware Training (QAT)</a:t>
            </a:r>
          </a:p>
          <a:p>
            <a:pPr marL="0" indent="0">
              <a:buNone/>
            </a:pPr>
            <a:r>
              <a:rPr lang="en-US" dirty="0"/>
              <a:t>   - Accurate but complex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Extreme Quantization (1-2 bit)</a:t>
            </a:r>
          </a:p>
          <a:p>
            <a:pPr marL="0" indent="0">
              <a:buNone/>
            </a:pPr>
            <a:r>
              <a:rPr lang="en-US" dirty="0"/>
              <a:t>   - Maximum efficiency, specialized</a:t>
            </a:r>
          </a:p>
        </p:txBody>
      </p:sp>
    </p:spTree>
    <p:extLst>
      <p:ext uri="{BB962C8B-B14F-4D97-AF65-F5344CB8AC3E}">
        <p14:creationId xmlns:p14="http://schemas.microsoft.com/office/powerpoint/2010/main" val="263252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08F5E-2443-722F-6887-7774021C6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PLATFORM COMPARISON: ACCESSIBILITY FOCUS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AMD PYNQ:</a:t>
            </a:r>
          </a:p>
          <a:p>
            <a:pPr marL="0" indent="0">
              <a:buNone/>
            </a:pPr>
            <a:r>
              <a:rPr lang="en-US" dirty="0"/>
              <a:t>• Python + </a:t>
            </a:r>
            <a:r>
              <a:rPr lang="en-US" dirty="0" err="1"/>
              <a:t>Jupyter</a:t>
            </a:r>
            <a:r>
              <a:rPr lang="en-US" dirty="0"/>
              <a:t> notebooks interface</a:t>
            </a:r>
          </a:p>
          <a:p>
            <a:pPr marL="0" indent="0">
              <a:buNone/>
            </a:pPr>
            <a:r>
              <a:rPr lang="en-US" dirty="0"/>
              <a:t>• Zynq boards with ARM + FPGA</a:t>
            </a:r>
          </a:p>
          <a:p>
            <a:pPr marL="0" indent="0">
              <a:buNone/>
            </a:pPr>
            <a:r>
              <a:rPr lang="en-US" dirty="0"/>
              <a:t>• Ideal for beginners</a:t>
            </a:r>
          </a:p>
          <a:p>
            <a:pPr marL="0" indent="0">
              <a:buNone/>
            </a:pPr>
            <a:r>
              <a:rPr lang="en-US" dirty="0"/>
              <a:t>• Rapid prototyping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Vitis AI:</a:t>
            </a:r>
          </a:p>
          <a:p>
            <a:pPr marL="0" indent="0">
              <a:buNone/>
            </a:pPr>
            <a:r>
              <a:rPr lang="en-US" dirty="0"/>
              <a:t>• Production-ready toolchain</a:t>
            </a:r>
          </a:p>
          <a:p>
            <a:pPr marL="0" indent="0">
              <a:buNone/>
            </a:pPr>
            <a:r>
              <a:rPr lang="en-US" dirty="0"/>
              <a:t>• Automated quantization</a:t>
            </a:r>
          </a:p>
          <a:p>
            <a:pPr marL="0" indent="0">
              <a:buNone/>
            </a:pPr>
            <a:r>
              <a:rPr lang="en-US" dirty="0"/>
              <a:t>• End-to-end deployment</a:t>
            </a:r>
          </a:p>
          <a:p>
            <a:pPr marL="0" indent="0">
              <a:buNone/>
            </a:pPr>
            <a:r>
              <a:rPr lang="en-US" dirty="0"/>
              <a:t>• Industry standards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Educational Value: Lowering entry barriers</a:t>
            </a:r>
          </a:p>
        </p:txBody>
      </p:sp>
    </p:spTree>
    <p:extLst>
      <p:ext uri="{BB962C8B-B14F-4D97-AF65-F5344CB8AC3E}">
        <p14:creationId xmlns:p14="http://schemas.microsoft.com/office/powerpoint/2010/main" val="2498833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E9075-0B38-9A42-4571-7B8EE2EFB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/>
              <a:t>PLATFORM COMPARISON: DEPTH FOCUS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hls4ml (High-Energy Physics):</a:t>
            </a:r>
          </a:p>
          <a:p>
            <a:pPr marL="0" indent="0">
              <a:buNone/>
            </a:pPr>
            <a:r>
              <a:rPr lang="en-US"/>
              <a:t>• Transparent model-to-hardware translation</a:t>
            </a:r>
          </a:p>
          <a:p>
            <a:pPr marL="0" indent="0">
              <a:buNone/>
            </a:pPr>
            <a:r>
              <a:rPr lang="en-US"/>
              <a:t>• Fine-grained quantization control</a:t>
            </a:r>
          </a:p>
          <a:p>
            <a:pPr marL="0" indent="0">
              <a:buNone/>
            </a:pPr>
            <a:r>
              <a:rPr lang="en-US"/>
              <a:t>• Educational focus: Understanding the process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FINN (Extreme Quantization):</a:t>
            </a:r>
          </a:p>
          <a:p>
            <a:pPr marL="0" indent="0">
              <a:buNone/>
            </a:pPr>
            <a:r>
              <a:rPr lang="en-US"/>
              <a:t>• Binary/ternary neural networks</a:t>
            </a:r>
          </a:p>
          <a:p>
            <a:pPr marL="0" indent="0">
              <a:buNone/>
            </a:pPr>
            <a:r>
              <a:rPr lang="en-US"/>
              <a:t>• Streaming dataflow architectures</a:t>
            </a:r>
          </a:p>
          <a:p>
            <a:pPr marL="0" indent="0">
              <a:buNone/>
            </a:pPr>
            <a:r>
              <a:rPr lang="en-US"/>
              <a:t>• Maximum efficiency demonstrations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Educational Value: Conceptual depth and transparency</a:t>
            </a:r>
          </a:p>
        </p:txBody>
      </p:sp>
    </p:spTree>
    <p:extLst>
      <p:ext uri="{BB962C8B-B14F-4D97-AF65-F5344CB8AC3E}">
        <p14:creationId xmlns:p14="http://schemas.microsoft.com/office/powerpoint/2010/main" val="2981832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BD826-857C-D5F2-279C-16A2A4CF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HANDS-ON WORKFLOW EXAMPLE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MNIST Classification on PYNQ-Z2: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Train &amp; Quantize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Keras</a:t>
            </a:r>
            <a:r>
              <a:rPr lang="en-US" dirty="0"/>
              <a:t>/TensorFlow model</a:t>
            </a:r>
          </a:p>
          <a:p>
            <a:pPr marL="0" indent="0">
              <a:buNone/>
            </a:pPr>
            <a:r>
              <a:rPr lang="en-US" dirty="0"/>
              <a:t>   - Precision reduction experiments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Configure hls4ml</a:t>
            </a:r>
          </a:p>
          <a:p>
            <a:pPr marL="0" indent="0">
              <a:buNone/>
            </a:pPr>
            <a:r>
              <a:rPr lang="en-US" dirty="0"/>
              <a:t>   - Layer-specific bit-widths</a:t>
            </a:r>
          </a:p>
          <a:p>
            <a:pPr marL="0" indent="0">
              <a:buNone/>
            </a:pPr>
            <a:r>
              <a:rPr lang="en-US" dirty="0"/>
              <a:t>   - Resource constraints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Hardware Optimization</a:t>
            </a:r>
          </a:p>
          <a:p>
            <a:pPr marL="0" indent="0">
              <a:buNone/>
            </a:pPr>
            <a:r>
              <a:rPr lang="en-US" dirty="0"/>
              <a:t>   - Parallelism vs resources</a:t>
            </a:r>
          </a:p>
          <a:p>
            <a:pPr marL="0" indent="0">
              <a:buNone/>
            </a:pPr>
            <a:r>
              <a:rPr lang="en-US" dirty="0"/>
              <a:t>   - Reuse factor adjustment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Generate &amp; Deploy</a:t>
            </a:r>
          </a:p>
          <a:p>
            <a:pPr marL="0" indent="0">
              <a:buNone/>
            </a:pPr>
            <a:r>
              <a:rPr lang="en-US" dirty="0"/>
              <a:t>   - HLS code generation</a:t>
            </a:r>
          </a:p>
          <a:p>
            <a:pPr marL="0" indent="0">
              <a:buNone/>
            </a:pPr>
            <a:r>
              <a:rPr lang="en-US" dirty="0"/>
              <a:t>   - Performance comparison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Learning Outcome: Complete hardware-software co-design understanding</a:t>
            </a:r>
          </a:p>
        </p:txBody>
      </p:sp>
    </p:spTree>
    <p:extLst>
      <p:ext uri="{BB962C8B-B14F-4D97-AF65-F5344CB8AC3E}">
        <p14:creationId xmlns:p14="http://schemas.microsoft.com/office/powerpoint/2010/main" val="51350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994AA-EB2A-1C43-1B28-4D7DF8762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EDUCATIONAL IMPACT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Democratization:</a:t>
            </a:r>
          </a:p>
          <a:p>
            <a:pPr marL="0" indent="0">
              <a:buNone/>
            </a:pPr>
            <a:r>
              <a:rPr lang="en-US" dirty="0"/>
              <a:t>• Lowers barrier for CS/AI students</a:t>
            </a:r>
          </a:p>
          <a:p>
            <a:pPr marL="0" indent="0">
              <a:buNone/>
            </a:pPr>
            <a:r>
              <a:rPr lang="en-US" dirty="0"/>
              <a:t>• No hardware expertise required initially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Conceptual Depth:</a:t>
            </a:r>
          </a:p>
          <a:p>
            <a:pPr marL="0" indent="0">
              <a:buNone/>
            </a:pPr>
            <a:r>
              <a:rPr lang="en-US" dirty="0"/>
              <a:t>• Hands-on quantization experience</a:t>
            </a:r>
          </a:p>
          <a:p>
            <a:pPr marL="0" indent="0">
              <a:buNone/>
            </a:pPr>
            <a:r>
              <a:rPr lang="en-US" dirty="0"/>
              <a:t>• Parallelism understanding</a:t>
            </a:r>
          </a:p>
          <a:p>
            <a:pPr marL="0" indent="0">
              <a:buNone/>
            </a:pPr>
            <a:r>
              <a:rPr lang="en-US" dirty="0"/>
              <a:t>• Resource constraint awareness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Systems Thinking:</a:t>
            </a:r>
          </a:p>
          <a:p>
            <a:pPr marL="0" indent="0">
              <a:buNone/>
            </a:pPr>
            <a:r>
              <a:rPr lang="en-US" dirty="0"/>
              <a:t>• Algorithm to silicon understanding</a:t>
            </a:r>
          </a:p>
          <a:p>
            <a:pPr marL="0" indent="0">
              <a:buNone/>
            </a:pPr>
            <a:r>
              <a:rPr lang="en-US" dirty="0"/>
              <a:t>• Cross-layer optimization skills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Innovation Stimulation:</a:t>
            </a:r>
          </a:p>
          <a:p>
            <a:pPr marL="0" indent="0">
              <a:buNone/>
            </a:pPr>
            <a:r>
              <a:rPr lang="en-US" dirty="0"/>
              <a:t>• Prototype novel accelerators</a:t>
            </a:r>
          </a:p>
          <a:p>
            <a:pPr marL="0" indent="0">
              <a:buNone/>
            </a:pPr>
            <a:r>
              <a:rPr lang="en-US" dirty="0"/>
              <a:t>• Research exploration</a:t>
            </a:r>
          </a:p>
        </p:txBody>
      </p:sp>
    </p:spTree>
    <p:extLst>
      <p:ext uri="{BB962C8B-B14F-4D97-AF65-F5344CB8AC3E}">
        <p14:creationId xmlns:p14="http://schemas.microsoft.com/office/powerpoint/2010/main" val="226329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9AF0-A608-73F1-292C-228DE3A9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IDENTIFIED CHALLENGES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Toolchain Complexity:</a:t>
            </a:r>
          </a:p>
          <a:p>
            <a:pPr marL="0" indent="0">
              <a:buNone/>
            </a:pPr>
            <a:r>
              <a:rPr lang="en-US" dirty="0"/>
              <a:t>• Vendor tools remain difficult</a:t>
            </a:r>
          </a:p>
          <a:p>
            <a:pPr marL="0" indent="0">
              <a:buNone/>
            </a:pPr>
            <a:r>
              <a:rPr lang="en-US" dirty="0"/>
              <a:t>• Installation and licensing issues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Resource Constraints:</a:t>
            </a:r>
          </a:p>
          <a:p>
            <a:pPr marL="0" indent="0">
              <a:buNone/>
            </a:pPr>
            <a:r>
              <a:rPr lang="en-US" dirty="0"/>
              <a:t>• Limited educational hardware</a:t>
            </a:r>
          </a:p>
          <a:p>
            <a:pPr marL="0" indent="0">
              <a:buNone/>
            </a:pPr>
            <a:r>
              <a:rPr lang="en-US" dirty="0"/>
              <a:t>• Overly simplified models required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Abstraction Leakage:</a:t>
            </a:r>
          </a:p>
          <a:p>
            <a:pPr marL="0" indent="0">
              <a:buNone/>
            </a:pPr>
            <a:r>
              <a:rPr lang="en-US" dirty="0"/>
              <a:t>• Debugging requires hardware knowledge</a:t>
            </a:r>
          </a:p>
          <a:p>
            <a:pPr marL="0" indent="0">
              <a:buNone/>
            </a:pPr>
            <a:r>
              <a:rPr lang="en-US" dirty="0"/>
              <a:t>• Cryptic error messages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Quantization Trade-offs:</a:t>
            </a:r>
          </a:p>
          <a:p>
            <a:pPr marL="0" indent="0">
              <a:buNone/>
            </a:pPr>
            <a:r>
              <a:rPr lang="en-US" dirty="0"/>
              <a:t>• Accuracy vs efficiency decisions</a:t>
            </a:r>
          </a:p>
          <a:p>
            <a:pPr marL="0" indent="0">
              <a:buNone/>
            </a:pPr>
            <a:r>
              <a:rPr lang="en-US" dirty="0"/>
              <a:t>• Numerical precision understanding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Curriculum Development:</a:t>
            </a:r>
          </a:p>
          <a:p>
            <a:pPr marL="0" indent="0">
              <a:buNone/>
            </a:pPr>
            <a:r>
              <a:rPr lang="en-US" dirty="0"/>
              <a:t>• Significant instructor effort</a:t>
            </a:r>
          </a:p>
          <a:p>
            <a:pPr marL="0" indent="0">
              <a:buNone/>
            </a:pPr>
            <a:r>
              <a:rPr lang="en-US" dirty="0"/>
              <a:t>• Balancing depth vs accessibility</a:t>
            </a:r>
          </a:p>
        </p:txBody>
      </p:sp>
    </p:spTree>
    <p:extLst>
      <p:ext uri="{BB962C8B-B14F-4D97-AF65-F5344CB8AC3E}">
        <p14:creationId xmlns:p14="http://schemas.microsoft.com/office/powerpoint/2010/main" val="2486050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7E0E-D904-D236-AB4D-37E63D5B9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RESEARCH DIRECTIONS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Cloud-Based Labs:</a:t>
            </a:r>
          </a:p>
          <a:p>
            <a:pPr marL="0" indent="0">
              <a:buNone/>
            </a:pPr>
            <a:r>
              <a:rPr lang="en-US" dirty="0"/>
              <a:t>• Eliminate local installation issues</a:t>
            </a:r>
          </a:p>
          <a:p>
            <a:pPr marL="0" indent="0">
              <a:buNone/>
            </a:pPr>
            <a:r>
              <a:rPr lang="en-US" dirty="0"/>
              <a:t>• Equitable access for all students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Enhanced Visualization:</a:t>
            </a:r>
          </a:p>
          <a:p>
            <a:pPr marL="0" indent="0">
              <a:buNone/>
            </a:pPr>
            <a:r>
              <a:rPr lang="en-US" dirty="0"/>
              <a:t>• Model-to-hardware mapping tools</a:t>
            </a:r>
          </a:p>
          <a:p>
            <a:pPr marL="0" indent="0">
              <a:buNone/>
            </a:pPr>
            <a:r>
              <a:rPr lang="en-US" dirty="0"/>
              <a:t>• Interactive debugging interfaces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Quantization Pedagogy:</a:t>
            </a:r>
          </a:p>
          <a:p>
            <a:pPr marL="0" indent="0">
              <a:buNone/>
            </a:pPr>
            <a:r>
              <a:rPr lang="en-US" dirty="0"/>
              <a:t>• Real-time precision analysis</a:t>
            </a:r>
          </a:p>
          <a:p>
            <a:pPr marL="0" indent="0">
              <a:buNone/>
            </a:pPr>
            <a:r>
              <a:rPr lang="en-US" dirty="0"/>
              <a:t>• Visual trade-off demonstrations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Broader Integration:</a:t>
            </a:r>
          </a:p>
          <a:p>
            <a:pPr marL="0" indent="0">
              <a:buNone/>
            </a:pPr>
            <a:r>
              <a:rPr lang="en-US" dirty="0"/>
              <a:t>• Embedded systems curriculum</a:t>
            </a:r>
          </a:p>
          <a:p>
            <a:pPr marL="0" indent="0">
              <a:buNone/>
            </a:pPr>
            <a:r>
              <a:rPr lang="en-US" dirty="0"/>
              <a:t>• Multi-platform comparisons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End-to-End Systems:</a:t>
            </a:r>
          </a:p>
          <a:p>
            <a:pPr marL="0" indent="0">
              <a:buNone/>
            </a:pPr>
            <a:r>
              <a:rPr lang="en-US" dirty="0"/>
              <a:t>• Sensor-to-actuator intelligent edge</a:t>
            </a:r>
          </a:p>
          <a:p>
            <a:pPr marL="0" indent="0">
              <a:buNone/>
            </a:pPr>
            <a:r>
              <a:rPr lang="en-US" dirty="0"/>
              <a:t>• Real-world application focus</a:t>
            </a:r>
          </a:p>
        </p:txBody>
      </p:sp>
    </p:spTree>
    <p:extLst>
      <p:ext uri="{BB962C8B-B14F-4D97-AF65-F5344CB8AC3E}">
        <p14:creationId xmlns:p14="http://schemas.microsoft.com/office/powerpoint/2010/main" val="1535647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0B504-9509-226F-FE6B-0ECAFD19A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INTRODUCING: EDUFLOW</a:t>
            </a:r>
          </a:p>
          <a:p>
            <a:pPr marL="0" indent="0">
              <a:buNone/>
            </a:pPr>
            <a:r>
              <a:rPr lang="en-US" dirty="0"/>
              <a:t>A Proposed Educational Platform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Vision:</a:t>
            </a:r>
          </a:p>
          <a:p>
            <a:pPr marL="0" indent="0">
              <a:buNone/>
            </a:pPr>
            <a:r>
              <a:rPr lang="en-US" dirty="0"/>
              <a:t>Progressive disclosure platform that grows with student expertise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Core Philosophy:</a:t>
            </a:r>
          </a:p>
          <a:p>
            <a:pPr marL="0" indent="0">
              <a:buNone/>
            </a:pPr>
            <a:r>
              <a:rPr lang="en-US" dirty="0"/>
              <a:t>• Start simple, reveal complexity gradually</a:t>
            </a:r>
          </a:p>
          <a:p>
            <a:pPr marL="0" indent="0">
              <a:buNone/>
            </a:pPr>
            <a:r>
              <a:rPr lang="en-US" dirty="0"/>
              <a:t>• Maintain conceptual transparency</a:t>
            </a:r>
          </a:p>
          <a:p>
            <a:pPr marL="0" indent="0">
              <a:buNone/>
            </a:pPr>
            <a:r>
              <a:rPr lang="en-US" dirty="0"/>
              <a:t>• Integrate best practices from existing platforms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Target Gap:</a:t>
            </a:r>
          </a:p>
          <a:p>
            <a:pPr marL="0" indent="0">
              <a:buNone/>
            </a:pPr>
            <a:r>
              <a:rPr lang="en-US" dirty="0"/>
              <a:t>Current platforms prioritize either accessibility OR depth</a:t>
            </a:r>
          </a:p>
          <a:p>
            <a:pPr marL="0" indent="0">
              <a:buNone/>
            </a:pPr>
            <a:r>
              <a:rPr lang="en-US" dirty="0" err="1"/>
              <a:t>EduFlow</a:t>
            </a:r>
            <a:r>
              <a:rPr lang="en-US" dirty="0"/>
              <a:t> delivers BOTH through progressive learning</a:t>
            </a:r>
          </a:p>
        </p:txBody>
      </p:sp>
    </p:spTree>
    <p:extLst>
      <p:ext uri="{BB962C8B-B14F-4D97-AF65-F5344CB8AC3E}">
        <p14:creationId xmlns:p14="http://schemas.microsoft.com/office/powerpoint/2010/main" val="1788640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1A9F-4B67-68A8-1461-EBC95E818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PLATFORM ARCHITECTURE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EduFlow</a:t>
            </a:r>
            <a:r>
              <a:rPr lang="en-US" dirty="0"/>
              <a:t> Architecture:</a:t>
            </a:r>
          </a:p>
          <a:p>
            <a:pPr marL="0" indent="0">
              <a:buNone/>
            </a:pPr>
            <a:r>
              <a:rPr lang="en-US" dirty="0"/>
              <a:t>[Web Interface] ←→ [Educational API Layer] ←→ [Abstraction Engine]</a:t>
            </a:r>
          </a:p>
          <a:p>
            <a:pPr marL="0" indent="0">
              <a:buNone/>
            </a:pPr>
            <a:r>
              <a:rPr lang="en-US" dirty="0"/>
              <a:t>                            ↓</a:t>
            </a:r>
          </a:p>
          <a:p>
            <a:pPr marL="0" indent="0">
              <a:buNone/>
            </a:pPr>
            <a:r>
              <a:rPr lang="en-US" dirty="0"/>
              <a:t>[Visual Debugger] ←→ [Hardware Abstraction] ←→ [Multi-Backend Support]</a:t>
            </a:r>
          </a:p>
          <a:p>
            <a:pPr marL="0" indent="0">
              <a:buNone/>
            </a:pPr>
            <a:r>
              <a:rPr lang="en-US" dirty="0"/>
              <a:t>                            ↓</a:t>
            </a:r>
          </a:p>
          <a:p>
            <a:pPr marL="0" indent="0">
              <a:buNone/>
            </a:pPr>
            <a:r>
              <a:rPr lang="en-US" dirty="0"/>
              <a:t>               [PYNQ]   [hls4ml]   [Vitis AI]   [FINN]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Components:</a:t>
            </a:r>
          </a:p>
          <a:p>
            <a:pPr marL="0" indent="0">
              <a:buNone/>
            </a:pPr>
            <a:r>
              <a:rPr lang="en-US" dirty="0"/>
              <a:t>• Unified Web Interface - Browser-based accessibility</a:t>
            </a:r>
          </a:p>
          <a:p>
            <a:pPr marL="0" indent="0">
              <a:buNone/>
            </a:pPr>
            <a:r>
              <a:rPr lang="en-US" dirty="0"/>
              <a:t>• Educational API - Simplified commands for beginners</a:t>
            </a:r>
          </a:p>
          <a:p>
            <a:pPr marL="0" indent="0">
              <a:buNone/>
            </a:pPr>
            <a:r>
              <a:rPr lang="en-US" dirty="0"/>
              <a:t>• Visualization Layer - Real-time hardware mapping</a:t>
            </a:r>
          </a:p>
          <a:p>
            <a:pPr marL="0" indent="0">
              <a:buNone/>
            </a:pPr>
            <a:r>
              <a:rPr lang="en-US" dirty="0"/>
              <a:t>• Multi-Backend - Leverages existing platforms</a:t>
            </a:r>
          </a:p>
          <a:p>
            <a:pPr marL="0" indent="0">
              <a:buNone/>
            </a:pPr>
            <a:r>
              <a:rPr lang="en-US" dirty="0"/>
              <a:t>• Progressive Mode - Reveals underlying commands</a:t>
            </a:r>
          </a:p>
        </p:txBody>
      </p:sp>
    </p:spTree>
    <p:extLst>
      <p:ext uri="{BB962C8B-B14F-4D97-AF65-F5344CB8AC3E}">
        <p14:creationId xmlns:p14="http://schemas.microsoft.com/office/powerpoint/2010/main" val="13778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F24EF-03B4-A617-3396-515C8485D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MULTI-LEVEL FEATURES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Beginners:</a:t>
            </a:r>
          </a:p>
          <a:p>
            <a:pPr marL="0" indent="0">
              <a:buNone/>
            </a:pPr>
            <a:r>
              <a:rPr lang="en-US" dirty="0"/>
              <a:t>• Drag-and-drop model building</a:t>
            </a:r>
          </a:p>
          <a:p>
            <a:pPr marL="0" indent="0">
              <a:buNone/>
            </a:pPr>
            <a:r>
              <a:rPr lang="en-US" dirty="0"/>
              <a:t>• One-click deployment to FPGA</a:t>
            </a:r>
          </a:p>
          <a:p>
            <a:pPr marL="0" indent="0">
              <a:buNone/>
            </a:pPr>
            <a:r>
              <a:rPr lang="en-US" dirty="0"/>
              <a:t>• Interactive quantization sliders</a:t>
            </a:r>
          </a:p>
          <a:p>
            <a:pPr marL="0" indent="0">
              <a:buNone/>
            </a:pPr>
            <a:r>
              <a:rPr lang="en-US" dirty="0"/>
              <a:t>• Real-time performance feedback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Intermediate Students:</a:t>
            </a:r>
          </a:p>
          <a:p>
            <a:pPr marL="0" indent="0">
              <a:buNone/>
            </a:pPr>
            <a:r>
              <a:rPr lang="en-US" dirty="0"/>
              <a:t>• Exposed configuration parameters</a:t>
            </a:r>
          </a:p>
          <a:p>
            <a:pPr marL="0" indent="0">
              <a:buNone/>
            </a:pPr>
            <a:r>
              <a:rPr lang="en-US" dirty="0"/>
              <a:t>• Comparative analysis tools</a:t>
            </a:r>
          </a:p>
          <a:p>
            <a:pPr marL="0" indent="0">
              <a:buNone/>
            </a:pPr>
            <a:r>
              <a:rPr lang="en-US" dirty="0"/>
              <a:t>• Hardware resource visualization</a:t>
            </a:r>
          </a:p>
          <a:p>
            <a:pPr marL="0" indent="0">
              <a:buNone/>
            </a:pPr>
            <a:r>
              <a:rPr lang="en-US" dirty="0"/>
              <a:t>• Step-by-step workflow inspection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Advanced Students:</a:t>
            </a:r>
          </a:p>
          <a:p>
            <a:pPr marL="0" indent="0">
              <a:buNone/>
            </a:pPr>
            <a:r>
              <a:rPr lang="en-US" dirty="0"/>
              <a:t>• Full backend tool access</a:t>
            </a:r>
          </a:p>
          <a:p>
            <a:pPr marL="0" indent="0">
              <a:buNone/>
            </a:pPr>
            <a:r>
              <a:rPr lang="en-US" dirty="0"/>
              <a:t>• Custom optimization scripts</a:t>
            </a:r>
          </a:p>
          <a:p>
            <a:pPr marL="0" indent="0">
              <a:buNone/>
            </a:pPr>
            <a:r>
              <a:rPr lang="en-US" dirty="0"/>
              <a:t>• Research experiment setup</a:t>
            </a:r>
          </a:p>
          <a:p>
            <a:pPr marL="0" indent="0">
              <a:buNone/>
            </a:pPr>
            <a:r>
              <a:rPr lang="en-US" dirty="0"/>
              <a:t>• Performance profiling tools</a:t>
            </a:r>
          </a:p>
        </p:txBody>
      </p:sp>
    </p:spTree>
    <p:extLst>
      <p:ext uri="{BB962C8B-B14F-4D97-AF65-F5344CB8AC3E}">
        <p14:creationId xmlns:p14="http://schemas.microsoft.com/office/powerpoint/2010/main" val="3645958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C9973-27EF-EB9D-A591-2E603AD87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INTERACTIVE QUANTIZATION LAB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Precision Exploration:</a:t>
            </a:r>
          </a:p>
          <a:p>
            <a:pPr marL="0" indent="0">
              <a:buNone/>
            </a:pPr>
            <a:r>
              <a:rPr lang="en-US" dirty="0"/>
              <a:t>[FP32] ----[INT16]----[INT8]----[INT4]----[Binary]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Real-time Feedback:</a:t>
            </a:r>
          </a:p>
          <a:p>
            <a:pPr marL="0" indent="0">
              <a:buNone/>
            </a:pPr>
            <a:r>
              <a:rPr lang="en-US" dirty="0"/>
              <a:t>Accuracy:   98% → 96% → 92% → 85% → 72%</a:t>
            </a:r>
          </a:p>
          <a:p>
            <a:pPr marL="0" indent="0">
              <a:buNone/>
            </a:pPr>
            <a:r>
              <a:rPr lang="en-US" dirty="0"/>
              <a:t>Resources:  100% → 45% → 25% → 12% → 5%</a:t>
            </a:r>
          </a:p>
          <a:p>
            <a:pPr marL="0" indent="0">
              <a:buNone/>
            </a:pPr>
            <a:r>
              <a:rPr lang="en-US" dirty="0"/>
              <a:t>Latency:    10ms → 4ms → 2ms → 1ms → 0.5ms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Educational Value:</a:t>
            </a:r>
          </a:p>
          <a:p>
            <a:pPr marL="0" indent="0">
              <a:buNone/>
            </a:pPr>
            <a:r>
              <a:rPr lang="en-US" dirty="0"/>
              <a:t>• Immediate feedback on trade-offs</a:t>
            </a:r>
          </a:p>
          <a:p>
            <a:pPr marL="0" indent="0">
              <a:buNone/>
            </a:pPr>
            <a:r>
              <a:rPr lang="en-US" dirty="0"/>
              <a:t>• Visual understanding of precision impact</a:t>
            </a:r>
          </a:p>
          <a:p>
            <a:pPr marL="0" indent="0">
              <a:buNone/>
            </a:pPr>
            <a:r>
              <a:rPr lang="en-US" dirty="0"/>
              <a:t>• Encourages experimentation</a:t>
            </a:r>
          </a:p>
          <a:p>
            <a:pPr marL="0" indent="0">
              <a:buNone/>
            </a:pPr>
            <a:r>
              <a:rPr lang="en-US" dirty="0"/>
              <a:t>• Builds intuition for hardware constraints</a:t>
            </a:r>
          </a:p>
        </p:txBody>
      </p:sp>
    </p:spTree>
    <p:extLst>
      <p:ext uri="{BB962C8B-B14F-4D97-AF65-F5344CB8AC3E}">
        <p14:creationId xmlns:p14="http://schemas.microsoft.com/office/powerpoint/2010/main" val="1028611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A846-6C9B-6BA9-3FDC-08E4FA115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REAL-TIME VISUALIZATION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FPGA Mapping Display:</a:t>
            </a:r>
          </a:p>
          <a:p>
            <a:pPr marL="0" indent="0">
              <a:buNone/>
            </a:pPr>
            <a:r>
              <a:rPr lang="en-US" dirty="0"/>
              <a:t>• Color-coded resource utilization</a:t>
            </a:r>
          </a:p>
          <a:p>
            <a:pPr marL="0" indent="0">
              <a:buNone/>
            </a:pPr>
            <a:r>
              <a:rPr lang="en-US" dirty="0"/>
              <a:t>• Animated data flow through layers</a:t>
            </a:r>
          </a:p>
          <a:p>
            <a:pPr marL="0" indent="0">
              <a:buNone/>
            </a:pPr>
            <a:r>
              <a:rPr lang="en-US" dirty="0"/>
              <a:t>• Parallelism visualization</a:t>
            </a:r>
          </a:p>
          <a:p>
            <a:pPr marL="0" indent="0">
              <a:buNone/>
            </a:pPr>
            <a:r>
              <a:rPr lang="en-US" dirty="0"/>
              <a:t>• Bottleneck identification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Learning Impact:</a:t>
            </a:r>
          </a:p>
          <a:p>
            <a:pPr marL="0" indent="0">
              <a:buNone/>
            </a:pPr>
            <a:r>
              <a:rPr lang="en-US" dirty="0"/>
              <a:t>• Concrete understanding of abstract concepts</a:t>
            </a:r>
          </a:p>
          <a:p>
            <a:pPr marL="0" indent="0">
              <a:buNone/>
            </a:pPr>
            <a:r>
              <a:rPr lang="en-US" dirty="0"/>
              <a:t>• Debugging assistance through visualization</a:t>
            </a:r>
          </a:p>
          <a:p>
            <a:pPr marL="0" indent="0">
              <a:buNone/>
            </a:pPr>
            <a:r>
              <a:rPr lang="en-US" dirty="0"/>
              <a:t>• Intuition development for hardware thinking</a:t>
            </a:r>
          </a:p>
          <a:p>
            <a:pPr marL="0" indent="0">
              <a:buNone/>
            </a:pPr>
            <a:r>
              <a:rPr lang="en-US" dirty="0"/>
              <a:t>• Connects software decisions to hardware consequences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Visual Debugging:</a:t>
            </a:r>
          </a:p>
          <a:p>
            <a:pPr marL="0" indent="0">
              <a:buNone/>
            </a:pPr>
            <a:r>
              <a:rPr lang="en-US" dirty="0"/>
              <a:t>• See why optimizations work or fail</a:t>
            </a:r>
          </a:p>
          <a:p>
            <a:pPr marL="0" indent="0">
              <a:buNone/>
            </a:pPr>
            <a:r>
              <a:rPr lang="en-US" dirty="0"/>
              <a:t>• Understand resource constraints visually</a:t>
            </a:r>
          </a:p>
          <a:p>
            <a:pPr marL="0" indent="0">
              <a:buNone/>
            </a:pPr>
            <a:r>
              <a:rPr lang="en-US" dirty="0"/>
              <a:t>• Learn hardware patterns through examples</a:t>
            </a:r>
          </a:p>
        </p:txBody>
      </p:sp>
    </p:spTree>
    <p:extLst>
      <p:ext uri="{BB962C8B-B14F-4D97-AF65-F5344CB8AC3E}">
        <p14:creationId xmlns:p14="http://schemas.microsoft.com/office/powerpoint/2010/main" val="1341280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E3118-5D81-DE1B-43E9-E1D388053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DEVELOPMENT PHASES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Phase 1 (Months 1-6):</a:t>
            </a:r>
          </a:p>
          <a:p>
            <a:pPr marL="0" indent="0">
              <a:buNone/>
            </a:pPr>
            <a:r>
              <a:rPr lang="en-US" dirty="0"/>
              <a:t>• Basic web interface and PYNQ integration</a:t>
            </a:r>
          </a:p>
          <a:p>
            <a:pPr marL="0" indent="0">
              <a:buNone/>
            </a:pPr>
            <a:r>
              <a:rPr lang="en-US" dirty="0"/>
              <a:t>• Simple quantization visualization</a:t>
            </a:r>
          </a:p>
          <a:p>
            <a:pPr marL="0" indent="0">
              <a:buNone/>
            </a:pPr>
            <a:r>
              <a:rPr lang="en-US" dirty="0"/>
              <a:t>• Beginner-level exercises</a:t>
            </a:r>
          </a:p>
          <a:p>
            <a:pPr marL="0" indent="0">
              <a:buNone/>
            </a:pPr>
            <a:r>
              <a:rPr lang="en-US" dirty="0"/>
              <a:t>• Core educational API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Phase 2 (Months 7-12):</a:t>
            </a:r>
          </a:p>
          <a:p>
            <a:pPr marL="0" indent="0">
              <a:buNone/>
            </a:pPr>
            <a:r>
              <a:rPr lang="en-US" dirty="0"/>
              <a:t>• Advanced visualization tools</a:t>
            </a:r>
          </a:p>
          <a:p>
            <a:pPr marL="0" indent="0">
              <a:buNone/>
            </a:pPr>
            <a:r>
              <a:rPr lang="en-US" dirty="0"/>
              <a:t>• Multi-backend support (hls4ml, Vitis AI)</a:t>
            </a:r>
          </a:p>
          <a:p>
            <a:pPr marL="0" indent="0">
              <a:buNone/>
            </a:pPr>
            <a:r>
              <a:rPr lang="en-US" dirty="0"/>
              <a:t>• Intermediate curriculum</a:t>
            </a:r>
          </a:p>
          <a:p>
            <a:pPr marL="0" indent="0">
              <a:buNone/>
            </a:pPr>
            <a:r>
              <a:rPr lang="en-US" dirty="0"/>
              <a:t>• Comparative analysis features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Phase 3 (Months 13-18):</a:t>
            </a:r>
          </a:p>
          <a:p>
            <a:pPr marL="0" indent="0">
              <a:buNone/>
            </a:pPr>
            <a:r>
              <a:rPr lang="en-US" dirty="0"/>
              <a:t>• Research-level features</a:t>
            </a:r>
          </a:p>
          <a:p>
            <a:pPr marL="0" indent="0">
              <a:buNone/>
            </a:pPr>
            <a:r>
              <a:rPr lang="en-US" dirty="0"/>
              <a:t>• FINN integration for extreme quantization</a:t>
            </a:r>
          </a:p>
          <a:p>
            <a:pPr marL="0" indent="0">
              <a:buNone/>
            </a:pPr>
            <a:r>
              <a:rPr lang="en-US" dirty="0"/>
              <a:t>• Custom optimization support</a:t>
            </a:r>
          </a:p>
          <a:p>
            <a:pPr marL="0" indent="0">
              <a:buNone/>
            </a:pPr>
            <a:r>
              <a:rPr lang="en-US" dirty="0"/>
              <a:t>• Advanced learning paths</a:t>
            </a:r>
          </a:p>
          <a:p>
            <a:pPr marL="0" indent="0">
              <a:buNone/>
            </a:pPr>
            <a:r>
              <a:rPr lang="en-US" dirty="0"/>
              <a:t>• Publication-ready results export</a:t>
            </a:r>
          </a:p>
        </p:txBody>
      </p:sp>
    </p:spTree>
    <p:extLst>
      <p:ext uri="{BB962C8B-B14F-4D97-AF65-F5344CB8AC3E}">
        <p14:creationId xmlns:p14="http://schemas.microsoft.com/office/powerpoint/2010/main" val="2413196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5462-D547-3E31-BF95-01969D6F5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QUESTIONS &amp; DISCUSSION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Thank You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Discussion Points:</a:t>
            </a:r>
          </a:p>
          <a:p>
            <a:pPr marL="0" indent="0">
              <a:buNone/>
            </a:pPr>
            <a:r>
              <a:rPr lang="en-US" dirty="0"/>
              <a:t>• Your experience with existing </a:t>
            </a:r>
            <a:r>
              <a:rPr lang="en-US" dirty="0" err="1"/>
              <a:t>EduFPGA</a:t>
            </a:r>
            <a:r>
              <a:rPr lang="en-US" dirty="0"/>
              <a:t>-AI platforms?</a:t>
            </a:r>
          </a:p>
          <a:p>
            <a:pPr marL="0" indent="0">
              <a:buNone/>
            </a:pPr>
            <a:r>
              <a:rPr lang="en-US" dirty="0"/>
              <a:t>• Challenges in hardware-software education?</a:t>
            </a:r>
          </a:p>
          <a:p>
            <a:pPr marL="0" indent="0">
              <a:buNone/>
            </a:pPr>
            <a:r>
              <a:rPr lang="en-US" dirty="0"/>
              <a:t>• Interest in collaborative development?</a:t>
            </a:r>
          </a:p>
          <a:p>
            <a:pPr marL="0" indent="0">
              <a:buNone/>
            </a:pPr>
            <a:r>
              <a:rPr lang="en-US" dirty="0"/>
              <a:t>• Suggestions for </a:t>
            </a:r>
            <a:r>
              <a:rPr lang="en-US" dirty="0" err="1"/>
              <a:t>EduFlow</a:t>
            </a:r>
            <a:r>
              <a:rPr lang="en-US" dirty="0"/>
              <a:t> features?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Let's build the future of FPGA-AI education together!</a:t>
            </a:r>
          </a:p>
        </p:txBody>
      </p:sp>
    </p:spTree>
    <p:extLst>
      <p:ext uri="{BB962C8B-B14F-4D97-AF65-F5344CB8AC3E}">
        <p14:creationId xmlns:p14="http://schemas.microsoft.com/office/powerpoint/2010/main" val="75743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</Words>
  <Application>Microsoft Office PowerPoint</Application>
  <PresentationFormat>On-screen Show (4:3)</PresentationFormat>
  <Paragraphs>279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Educational Platforms for Learning AI on FPGA Hardware </vt:lpstr>
      <vt:lpstr>Main headlines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Abdo</cp:lastModifiedBy>
  <cp:revision>4</cp:revision>
  <dcterms:created xsi:type="dcterms:W3CDTF">2013-01-27T09:14:16Z</dcterms:created>
  <dcterms:modified xsi:type="dcterms:W3CDTF">2025-11-04T16:06:34Z</dcterms:modified>
  <cp:category/>
</cp:coreProperties>
</file>